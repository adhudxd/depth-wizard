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ccea700-ad22-1f9c-1a88-b81fc2a5cc0f}">
          <p14:sldIdLst>
            <p14:sldId id="256"/>
          </p14:sldIdLst>
        </p14:section>
        <p14:section name="Problem" id="{bfc153a3-68f3-84e0-8a79-24e26bec2750}">
          <p14:sldIdLst>
            <p14:sldId id="257"/>
          </p14:sldIdLst>
        </p14:section>
        <p14:section name="Solution" id="{18eae55c-ff45-eeb1-6a65-b8fd1bc5571d}">
          <p14:sldIdLst>
            <p14:sldId id="258"/>
            <p14:sldId id="259"/>
            <p14:sldId id="260"/>
            <p14:sldId id="261"/>
          </p14:sldIdLst>
        </p14:section>
        <p14:section name="Product" id="{78b426e1-adb3-973a-4d41-97a321d01dd3}">
          <p14:sldIdLst>
            <p14:sldId id="262"/>
            <p14:sldId id="263"/>
            <p14:sldId id="264"/>
          </p14:sldIdLst>
        </p14:section>
        <p14:section name="Close" id="{e3230101-0fab-d63d-f37d-b137ad435b7f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1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1B"/>
                </a:solidFill>
                <a:latin typeface="+mn-lt"/>
              </a:rPr>
              <a:t>Surface height error, RMSE (m)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m DEM only</c:v>
                </c:pt>
              </c:strCache>
            </c:strRef>
          </c:tx>
          <c:spPr>
            <a:solidFill>
              <a:srgbClr val="5D68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0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Whole scene</c:v>
                  </c:pt>
                  <c:pt idx="1">
                    <c:v>Buildings &amp; trees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6.09</c:v>
                </c:pt>
                <c:pt idx="1">
                  <c:v>11.54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DepthWizard</c:v>
                </c:pt>
              </c:strCache>
            </c:strRef>
          </c:tx>
          <c:spPr>
            <a:solidFill>
              <a:srgbClr val="2F7D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0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Whole scene</c:v>
                  </c:pt>
                  <c:pt idx="1">
                    <c:v>Buildings &amp; trees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4.14</c:v>
                </c:pt>
                <c:pt idx="1">
                  <c:v>7.01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20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3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DE3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8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720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 a district officer asks when the river rises: which buildings flood, and which way do people walk? DepthWizard answers that from one satellite image. It estimates heights, says how sure it is, and turns them into escape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columns: what we have, what planners need, and why the gap exists. The key point: the problem is not making a 3D picture, it is answering decisions that need heights in metres.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Stress step 3: this is where metres come from, and it is physics, not guesswork. Step 5 is what the user actually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answer to 'it is just a wrapper'. The AI gives shape; physics gives metres. The slope correction matters most in Sikkim-type terrain. The rho value means the app measures how much to trust the AI on each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this is a synthetic scene where we know the truth exactly. Error drops from 11.5 to 7.0 m on objects. The slope correction is the single biggest gain. We do not yet claim Indian accuracy; slide 11 covers how we will get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hazard model is simple and explainable, which is what a district officer needs. The novelty is that the heights feed the decisions: refuges in floods and debris reach in earthquakes need building heights.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if possible; these are real screenshots from the running app on the demo town. Tap anywhere and the app draws the walking route from that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summary is generated from the scenario, so a non-technical user reads sentences, not heatmaps. Exports go straight to WhatsApp, a printer or a GIS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feasibility and UX critique directly: small install, CPU only, browser access, and a guided mode that hides the expert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reviewer asked for an explicit requirement matrix. Point out the honest statuses on the last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this before the judges do is the strongest credibility move. All three next steps use free data or can be done by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 the tool supports, then invite questions or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DepthWizard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3D view" descr="/tmp/claude-0/-home-user-Depth-Wizard/356b8a9f-27f1-50a2-97c0-702017186e85/scratchpad/deck/view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hero tint"/>
          <p:cNvSpPr/>
          <p:nvPr/>
        </p:nvSpPr>
        <p:spPr>
          <a:xfrm>
            <a:off x="5852160" y="0"/>
            <a:ext cx="633679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DepthWizard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D8"/>
                </a:solidFill>
              </a:rPr>
              <a:t>One satellite image → a metric 3D surface model → an evacuation plan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49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Shadow-measured building heights, honest about uncertainty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Flood, landslide and earthquake escape routes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Runs offline in a browser on one office PC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9F"/>
                </a:solidFill>
              </a:rPr>
              <a:t>Problem statement by ISRO  ·  Working prototype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30 m DEM shows the hill, not the town on it</a:t>
            </a:r>
            <a:endParaRPr lang="en-US" sz="3200" dirty="0"/>
          </a:p>
        </p:txBody>
      </p:sp>
      <p:sp>
        <p:nvSpPr>
          <p:cNvPr id="3" name="What free elevation data gives"/>
          <p:cNvSpPr/>
          <p:nvPr/>
        </p:nvSpPr>
        <p:spPr>
          <a:xfrm>
            <a:off x="548640" y="13258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"/>
          <p:cNvSpPr/>
          <p:nvPr/>
        </p:nvSpPr>
        <p:spPr>
          <a:xfrm>
            <a:off x="822960" y="16002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free elevation data gives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CartoDEM, SRTM, Copernicus GLO-30 at ~30 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Hills and valleys are there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Individual houses, trees and streets are not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Datums differ: CartoDEM sits ~46 m off the geoid at Namchi</a:t>
            </a:r>
            <a:endParaRPr lang="en-US" sz="1500" dirty="0"/>
          </a:p>
        </p:txBody>
      </p:sp>
      <p:sp>
        <p:nvSpPr>
          <p:cNvPr id="7" name="What disaster planners need"/>
          <p:cNvSpPr/>
          <p:nvPr/>
        </p:nvSpPr>
        <p:spPr>
          <a:xfrm>
            <a:off x="4343400" y="13258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t"/>
          <p:cNvSpPr/>
          <p:nvPr/>
        </p:nvSpPr>
        <p:spPr>
          <a:xfrm>
            <a:off x="4617720" y="16002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disaster planners need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774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buildings sit in the flood or debris zone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buildings are tall enough to shelter 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way each street should run, and how long it takes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crowds will jam</a:t>
            </a:r>
            <a:endParaRPr lang="en-US" sz="1500" dirty="0"/>
          </a:p>
        </p:txBody>
      </p:sp>
      <p:sp>
        <p:nvSpPr>
          <p:cNvPr id="11" name="Why existing options fall short"/>
          <p:cNvSpPr/>
          <p:nvPr/>
        </p:nvSpPr>
        <p:spPr>
          <a:xfrm>
            <a:off x="8138160" y="13258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t"/>
          <p:cNvSpPr/>
          <p:nvPr/>
        </p:nvSpPr>
        <p:spPr>
          <a:xfrm>
            <a:off x="8412480" y="16002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existing options fall short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3774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LiDAR and stereo surveys are slow and costly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depth models output unitless numbers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 tools stop at a 3D picture, not a decision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GIS tools need trained operators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gap: evacuation decisions need building heights in metres, and free data stops at the terrain.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image to evacuation plan in five steps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&amp; reproject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PNG, JPG or GeoTIFF; GeoTIFF reprojected to UTM so pixels are metres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9718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tep 2"/>
          <p:cNvSpPr/>
          <p:nvPr/>
        </p:nvSpPr>
        <p:spPr>
          <a:xfrm>
            <a:off x="2788920" y="173736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3017520" y="2011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relative height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Depth Anything V2 on 518 px tiles, aligned and blended without seams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29718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tep 3"/>
          <p:cNvSpPr/>
          <p:nvPr/>
        </p:nvSpPr>
        <p:spPr>
          <a:xfrm>
            <a:off x="5029200" y="173736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 3"/>
          <p:cNvSpPr/>
          <p:nvPr/>
        </p:nvSpPr>
        <p:spPr>
          <a:xfrm>
            <a:off x="5257800" y="2011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Measure in metres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Shadow length × sun angle, slope-corrected with the DEM; GCPs and datum fix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29718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tep 4"/>
          <p:cNvSpPr/>
          <p:nvPr/>
        </p:nvSpPr>
        <p:spPr>
          <a:xfrm>
            <a:off x="7269480" y="173736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 4"/>
          <p:cNvSpPr/>
          <p:nvPr/>
        </p:nvSpPr>
        <p:spPr>
          <a:xfrm>
            <a:off x="7498080" y="20116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hazards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Flood (HAND), landslide susceptibility, earthquake debris reach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54312" y="29718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27" name="step 5"/>
          <p:cNvSpPr/>
          <p:nvPr/>
        </p:nvSpPr>
        <p:spPr>
          <a:xfrm>
            <a:off x="9509760" y="173736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dge 5"/>
          <p:cNvSpPr/>
          <p:nvPr/>
        </p:nvSpPr>
        <p:spPr>
          <a:xfrm>
            <a:off x="9738360" y="2011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8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Route people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291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Walking-time field to safe zones, refuges, choke points, printable plan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Every output carries a label (absolute metres, metres above ground, or relative 0–1) and an error estimate.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Heights you can defend: shadows first, AI second</a:t>
            </a:r>
            <a:endParaRPr lang="en-US" sz="3200" dirty="0"/>
          </a:p>
        </p:txBody>
      </p:sp>
      <p:sp>
        <p:nvSpPr>
          <p:cNvPr id="3" name="Shadow measurement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"/>
          <p:cNvSpPr/>
          <p:nvPr/>
        </p:nvSpPr>
        <p:spPr>
          <a:xfrm>
            <a:off x="822960" y="16733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Shadow measurement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Height = shadow length × (tan sun elevation + terrain slope along the shadow). Sun angles come from GeoTIFF metadata or the acquisition time.</a:t>
            </a:r>
            <a:endParaRPr lang="en-US" sz="1500" dirty="0"/>
          </a:p>
        </p:txBody>
      </p:sp>
      <p:sp>
        <p:nvSpPr>
          <p:cNvPr id="7" name="Slope correction for hill towns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t"/>
          <p:cNvSpPr/>
          <p:nvPr/>
        </p:nvSpPr>
        <p:spPr>
          <a:xfrm>
            <a:off x="6446520" y="16733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Slope correction for hill towns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 a hillside, uphill shadows are shorter and downhill ones longer. Using the DEM slope cut shadow-height error from 5.5 m to 3.1 m.</a:t>
            </a:r>
            <a:endParaRPr lang="en-US" sz="1500" dirty="0"/>
          </a:p>
        </p:txBody>
      </p:sp>
      <p:sp>
        <p:nvSpPr>
          <p:cNvPr id="11" name="Shadow-first fusion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t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4005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Shadow-first fusion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Buildings with a clean shadow keep their measured height. Others get the AI estimate, trusted only as far as it agrees with the measurements (ρ).</a:t>
            </a:r>
            <a:endParaRPr lang="en-US" sz="1500" dirty="0"/>
          </a:p>
        </p:txBody>
      </p:sp>
      <p:sp>
        <p:nvSpPr>
          <p:cNvPr id="15" name="Honest output modes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"/>
          <p:cNvSpPr/>
          <p:nvPr/>
        </p:nvSpPr>
        <p:spPr>
          <a:xfrm>
            <a:off x="6446520" y="405079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4005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Honest output modes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Absolute DSM · metres above ground · terrain only · relative 0–1. No metres are claimed without a scale source.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Demo-town result: 39% lower error on buildings and trees</a:t>
            </a:r>
            <a:endParaRPr lang="en-US" sz="3200" dirty="0"/>
          </a:p>
        </p:txBody>
      </p:sp>
      <p:graphicFrame>
        <p:nvGraphicFramePr>
          <p:cNvPr id="3" name="RMSE chart" descr=""/>
          <p:cNvGraphicFramePr/>
          <p:nvPr/>
        </p:nvGraphicFramePr>
        <p:xfrm>
          <a:off x="54864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3.1 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084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RMSE of shadow-measured building heights (r = 0.91)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880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5.5 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5935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same, without the slope correction (r = 0.78)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389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−46 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51023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CartoDEM datum offset corrected automatically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Synthetic Namchi-like town with known truth (1024 × 1024 px at 0.5 m). Indian field validation is the next step.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hazards, each using the heights we measure</a:t>
            </a:r>
            <a:endParaRPr lang="en-US" sz="3200" dirty="0"/>
          </a:p>
        </p:txBody>
      </p:sp>
      <p:sp>
        <p:nvSpPr>
          <p:cNvPr id="3" name="Flood"/>
          <p:cNvSpPr/>
          <p:nvPr/>
        </p:nvSpPr>
        <p:spPr>
          <a:xfrm>
            <a:off x="548640" y="132588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lood pill"/>
          <p:cNvSpPr/>
          <p:nvPr/>
        </p:nvSpPr>
        <p:spPr>
          <a:xfrm>
            <a:off x="822960" y="160020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Flood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Height Above Nearest Drainage: a rise of h metres floods every cell lower than h above its stream.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 height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Buildings ≥ 9 m whose roofs stay 3 m above water become vertical-evacuation refuges.</a:t>
            </a:r>
            <a:endParaRPr lang="en-US" sz="1500" dirty="0"/>
          </a:p>
        </p:txBody>
      </p:sp>
      <p:sp>
        <p:nvSpPr>
          <p:cNvPr id="9" name="Landslide"/>
          <p:cNvSpPr/>
          <p:nvPr/>
        </p:nvSpPr>
        <p:spPr>
          <a:xfrm>
            <a:off x="4297680" y="132588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Landslide pill"/>
          <p:cNvSpPr/>
          <p:nvPr/>
        </p:nvSpPr>
        <p:spPr>
          <a:xfrm>
            <a:off x="4572000" y="160020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Landslide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Susceptibility from slope, flow convergence and bare ground, plus a downslope run-out path.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 height matters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886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Routes avoid source and run-out zones; stable, gentle open ground becomes safe zones.</a:t>
            </a:r>
            <a:endParaRPr lang="en-US" sz="1500" dirty="0"/>
          </a:p>
        </p:txBody>
      </p:sp>
      <p:sp>
        <p:nvSpPr>
          <p:cNvPr id="15" name="Earthquake"/>
          <p:cNvSpPr/>
          <p:nvPr/>
        </p:nvSpPr>
        <p:spPr>
          <a:xfrm>
            <a:off x="8046720" y="132588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Earthquake pill"/>
          <p:cNvSpPr/>
          <p:nvPr/>
        </p:nvSpPr>
        <p:spPr>
          <a:xfrm>
            <a:off x="8321040" y="160020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Earthquake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Collapse debris reaches about half a building's height into the street.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 height matters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886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Narrow streets between tall buildings are flagged; open ground beyond reach is the assembly area.</a:t>
            </a:r>
            <a:endParaRPr lang="en-US" sz="1500" dirty="0"/>
          </a:p>
        </p:txBody>
      </p:sp>
      <p:sp>
        <p:nvSpPr>
          <p:cNvPr id="21" name="routing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Routing: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Tobler walking speed (uphill vs downhill) × hazard penalty, one Dijkstra pass from all safe zones → a direction and walking time for every spot.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officer sees: arrows, safe zones, choke points</a:t>
            </a:r>
            <a:endParaRPr lang="en-US" sz="3200" dirty="0"/>
          </a:p>
        </p:txBody>
      </p:sp>
      <p:pic>
        <p:nvPicPr>
          <p:cNvPr id="3" name="Flood, 3 m rise" descr="/tmp/claude-0/-home-user-Depth-Wizard/356b8a9f-27f1-50a2-97c0-702017186e85/scratchpad/deck/map_fl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56616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Flood, 3 m rise</a:t>
            </a:r>
            <a:endParaRPr lang="en-US" sz="1500" dirty="0"/>
          </a:p>
        </p:txBody>
      </p:sp>
      <p:pic>
        <p:nvPicPr>
          <p:cNvPr id="5" name="Landslide" descr="/tmp/claude-0/-home-user-Depth-Wizard/356b8a9f-27f1-50a2-97c0-702017186e85/scratchpad/deck/map_land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0160"/>
            <a:ext cx="3566160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9768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Landslide</a:t>
            </a:r>
            <a:endParaRPr lang="en-US" sz="1500" dirty="0"/>
          </a:p>
        </p:txBody>
      </p:sp>
      <p:pic>
        <p:nvPicPr>
          <p:cNvPr id="7" name="Earthquake" descr="/tmp/claude-0/-home-user-Depth-Wizard/356b8a9f-27f1-50a2-97c0-702017186e85/scratchpad/deck/map_qu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80160"/>
            <a:ext cx="3566160" cy="35661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Earthquake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Arrows: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fastest way out, coloured by minutes 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Letters: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safe zones with capacity 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!: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choke points needing marshals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Plain-language plan, 3D check, one-click exports</a:t>
            </a:r>
            <a:endParaRPr lang="en-US" sz="3200" dirty="0"/>
          </a:p>
        </p:txBody>
      </p:sp>
      <p:pic>
        <p:nvPicPr>
          <p:cNvPr id="3" name="3D view" descr="/tmp/claude-0/-home-user-Depth-Wizard/356b8a9f-27f1-50a2-97c0-702017186e85/scratchpad/deck/view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730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3D view: measured building heights on the terrain, with the escape arrows draped on top</a:t>
            </a:r>
            <a:endParaRPr lang="en-US" sz="1300" dirty="0"/>
          </a:p>
        </p:txBody>
      </p:sp>
      <p:sp>
        <p:nvSpPr>
          <p:cNvPr id="5" name="summary example"/>
          <p:cNvSpPr/>
          <p:nvPr/>
        </p:nvSpPr>
        <p:spPr>
          <a:xfrm>
            <a:off x="7498080" y="1280160"/>
            <a:ext cx="41148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266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 summary the app writes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8288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“117 of 123 buildings are in the danger zone (about 6,700 people, estimated). Half can walk to safety within 1.6 min. Main safe place: Zone A, open assembly area.”</a:t>
            </a:r>
            <a:endParaRPr lang="en-US" sz="1500" dirty="0"/>
          </a:p>
        </p:txBody>
      </p:sp>
      <p:sp>
        <p:nvSpPr>
          <p:cNvPr id="8" name="badge 1"/>
          <p:cNvSpPr/>
          <p:nvPr/>
        </p:nvSpPr>
        <p:spPr>
          <a:xfrm>
            <a:off x="7498080" y="3886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886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Print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one-page evacuation plan</a:t>
            </a:r>
            <a:endParaRPr lang="en-US" sz="1500" dirty="0"/>
          </a:p>
        </p:txBody>
      </p:sp>
      <p:sp>
        <p:nvSpPr>
          <p:cNvPr id="11" name="badge 2"/>
          <p:cNvSpPr/>
          <p:nvPr/>
        </p:nvSpPr>
        <p:spPr>
          <a:xfrm>
            <a:off x="7498080" y="4572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KML / GeoJSON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for phones and GIS</a:t>
            </a:r>
            <a:endParaRPr lang="en-US" sz="1500" dirty="0"/>
          </a:p>
        </p:txBody>
      </p:sp>
      <p:sp>
        <p:nvSpPr>
          <p:cNvPr id="14" name="badge 3"/>
          <p:cNvSpPr/>
          <p:nvPr/>
        </p:nvSpPr>
        <p:spPr>
          <a:xfrm>
            <a:off x="7498080" y="5257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5257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GeoTIFF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DSM, heights, uncertainty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for district offices, not GPU labs</a:t>
            </a:r>
            <a:endParaRPr lang="en-US" sz="3200" dirty="0"/>
          </a:p>
        </p:txBody>
      </p:sp>
      <p:sp>
        <p:nvSpPr>
          <p:cNvPr id="3" name="0.8 GB"/>
          <p:cNvSpPr/>
          <p:nvPr/>
        </p:nvSpPr>
        <p:spPr>
          <a:xfrm>
            <a:off x="548640" y="13258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0.8 GB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installed size, down from 4.7 GB (ONNX Runtime, no PyTorch or CUDA)</a:t>
            </a:r>
            <a:endParaRPr lang="en-US" sz="1400" dirty="0"/>
          </a:p>
        </p:txBody>
      </p:sp>
      <p:sp>
        <p:nvSpPr>
          <p:cNvPr id="6" name="~8 s"/>
          <p:cNvSpPr/>
          <p:nvPr/>
        </p:nvSpPr>
        <p:spPr>
          <a:xfrm>
            <a:off x="4297680" y="13258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~8 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process a 1024 px scene on a laptop CPU</a:t>
            </a:r>
            <a:endParaRPr lang="en-US" sz="1400" dirty="0"/>
          </a:p>
        </p:txBody>
      </p:sp>
      <p:sp>
        <p:nvSpPr>
          <p:cNvPr id="9" name="1 PC"/>
          <p:cNvSpPr/>
          <p:nvPr/>
        </p:nvSpPr>
        <p:spPr>
          <a:xfrm>
            <a:off x="8046720" y="132588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 PC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serves the whole office over the LAN; others need only a browser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Guided mode: three steps</a:t>
            </a:r>
            <a:endParaRPr lang="en-US" sz="2000" dirty="0"/>
          </a:p>
        </p:txBody>
      </p:sp>
      <p:sp>
        <p:nvSpPr>
          <p:cNvPr id="13" name="badge 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51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Load the image (or try the demo town)</a:t>
            </a:r>
            <a:endParaRPr lang="en-US" sz="1500" dirty="0"/>
          </a:p>
        </p:txBody>
      </p:sp>
      <p:sp>
        <p:nvSpPr>
          <p:cNvPr id="16" name="badge 2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 the height card: what kind of heights, how reliable</a:t>
            </a:r>
            <a:endParaRPr lang="en-US" sz="1500" dirty="0"/>
          </a:p>
        </p:txBody>
      </p:sp>
      <p:sp>
        <p:nvSpPr>
          <p:cNvPr id="19" name="badge 3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440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a hazard, move the slider, tap the map for a route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03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Expert mode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2062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Layers: surface, heights, confidence, drainage, error, time-to-safety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Elevation profile and point inspector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Validation against a reference DSM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Measured anchors table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Problem-statement requirements → features</a:t>
            </a:r>
            <a:endParaRPr lang="en-US" sz="3200" dirty="0"/>
          </a:p>
        </p:txBody>
      </p:sp>
      <p:graphicFrame>
        <p:nvGraphicFramePr>
          <p:cNvPr id="11" name="requirement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93776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DepthWizard feature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Relative DSM for plain images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Tiled Depth Anything V2, labelled 0–1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Absolute DSM in metres for georeferenced images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 + datum offset + shadow/GCP scale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Building / surface heights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Shadow measurement with slope correction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3D view to navigate and check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Three.js 3D, profile, point inspector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Accuracy assessment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Built-in validation vs reference DSM; error layer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 (synthetic)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Usable by non-experts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Guided mode, plain-language summary, printable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Done; user test pending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Disaster use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Flood, landslide, earthquake escape routing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Validation on Indian terrain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ICESat-2, GEDI, field survey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not done yet, and the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Honest limits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Accuracy shown on a synthetic town, not yet on Indian ground truth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Shadow method assumes near-nadir view and flat roofs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Routes use open ground, not yet the road network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fine-tuning (DEM-conditioned) not started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pilot with a disaster agency yet</a:t>
            </a:r>
            <a:endParaRPr lang="en-US" sz="1500" dirty="0"/>
          </a:p>
        </p:txBody>
      </p:sp>
      <p:sp>
        <p:nvSpPr>
          <p:cNvPr id="5" name="Indian validation"/>
          <p:cNvSpPr/>
          <p:nvPr/>
        </p:nvSpPr>
        <p:spPr>
          <a:xfrm>
            <a:off x="6309360" y="132588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badge 1"/>
          <p:cNvSpPr/>
          <p:nvPr/>
        </p:nvSpPr>
        <p:spPr>
          <a:xfrm>
            <a:off x="653796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5270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Indian validation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9659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ICESat-2 and GEDI spaceborne LiDAR tracks, a 30–50 building field survey, and a Cartosat stereo pair from NRSC</a:t>
            </a:r>
            <a:endParaRPr lang="en-US" sz="1400" dirty="0"/>
          </a:p>
        </p:txBody>
      </p:sp>
      <p:sp>
        <p:nvSpPr>
          <p:cNvPr id="10" name="Roads + people"/>
          <p:cNvSpPr/>
          <p:nvPr/>
        </p:nvSpPr>
        <p:spPr>
          <a:xfrm>
            <a:off x="6309360" y="292608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badge 2"/>
          <p:cNvSpPr/>
          <p:nvPr/>
        </p:nvSpPr>
        <p:spPr>
          <a:xfrm>
            <a:off x="6537960" y="3154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127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Roads + people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5661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OpenStreetMap road network; WorldPop population</a:t>
            </a:r>
            <a:endParaRPr lang="en-US" sz="1400" dirty="0"/>
          </a:p>
        </p:txBody>
      </p:sp>
      <p:sp>
        <p:nvSpPr>
          <p:cNvPr id="15" name="Pilot"/>
          <p:cNvSpPr/>
          <p:nvPr/>
        </p:nvSpPr>
        <p:spPr>
          <a:xfrm>
            <a:off x="6309360" y="452628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 3"/>
          <p:cNvSpPr/>
          <p:nvPr/>
        </p:nvSpPr>
        <p:spPr>
          <a:xfrm>
            <a:off x="6537960" y="4754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7274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51663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 a district disaster office a plan for their own town; run a usability test with non-experts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8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ood map" descr="/tmp/claude-0/-home-user-Depth-Wizard/356b8a9f-27f1-50a2-97c0-702017186e85/scratchpad/deck/map_fl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9728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630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the water goes, which streets block, and which way to run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290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8"/>
                </a:solidFill>
              </a:rPr>
              <a:t>From one satellite image, on one office PC, with heights you can check.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github.com/adhuDXD/Depth-Wizard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03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9F"/>
                </a:solidFill>
              </a:rPr>
              <a:t>Live demo: python -m depthwizard.server  →  Try demo town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Wizard">
  <a:themeElements>
    <a:clrScheme name="DepthWizard">
      <a:dk1>
        <a:srgbClr val="17201B"/>
      </a:dk1>
      <a:lt1>
        <a:srgbClr val="FFFFFF"/>
      </a:lt1>
      <a:dk2>
        <a:srgbClr val="2B3A33"/>
      </a:dk2>
      <a:lt2>
        <a:srgbClr val="EEF3EF"/>
      </a:lt2>
      <a:accent1>
        <a:srgbClr val="2F7D5B"/>
      </a:accent1>
      <a:accent2>
        <a:srgbClr val="2F6FD6"/>
      </a:accent2>
      <a:accent3>
        <a:srgbClr val="E07B1A"/>
      </a:accent3>
      <a:accent4>
        <a:srgbClr val="C93A3A"/>
      </a:accent4>
      <a:accent5>
        <a:srgbClr val="5D6862"/>
      </a:accent5>
      <a:accent6>
        <a:srgbClr val="D9B21F"/>
      </a:accent6>
      <a:hlink>
        <a:srgbClr val="2F6FD6"/>
      </a:hlink>
      <a:folHlink>
        <a:srgbClr val="6D4BB0"/>
      </a:folHlink>
    </a:clrScheme>
    <a:fontScheme name="DepthWiz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DepthWizard</dc:title>
  <dc:subject>PptxGenJS Presentation</dc:subject>
  <dc:creator>DepthWizard team</dc:creator>
  <cp:lastModifiedBy>DepthWizard team</cp:lastModifiedBy>
  <cp:revision>1</cp:revision>
  <dcterms:created xsi:type="dcterms:W3CDTF">2026-10-08T08:32:10Z</dcterms:created>
  <dcterms:modified xsi:type="dcterms:W3CDTF">2026-10-08T08:32:10Z</dcterms:modified>
</cp:coreProperties>
</file>